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312E81">
              <a:alpha val="7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</a:rPr>
              <a:t>NHIS PROJECT 4B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Industry Performance Dataset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572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 •  Bivariate  •  Multivariate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Records  |  12 Variables  |  5 Industries  |  4 Countries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June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0050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977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40050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Variables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977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40050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Industries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977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40050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Visuals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94360" cy="5943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243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Business 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5910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context, goals, and dataset overview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594360" cy="5943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2037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Quality Assessment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5511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type verification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594360" cy="5943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1638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511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skewness, kurtosis, boxplots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160520"/>
            <a:ext cx="594360" cy="5943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1239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&amp; Correlation 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44714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plots, grouped analysis, heatmaps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118872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280160"/>
            <a:ext cx="594360" cy="5943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1243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15910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Three-dimensional industry-region-metric patterns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14884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240280"/>
            <a:ext cx="594360" cy="5943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22037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25511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and Z-Score methods with interpretation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10896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200400"/>
            <a:ext cx="594360" cy="5943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31638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3511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conclusions and business intelligence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406908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4160520"/>
            <a:ext cx="594360" cy="5943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41239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44714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Sector-level executive action plans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5272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5272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Integer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3000" y="11795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Unique company identifier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9280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9280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String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43000" y="1819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company_name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0574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Name of the company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3288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3288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Categorical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43000" y="24597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industry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6974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sectors: Tech, Finance, Retail, Mfg, Healthcare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7296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7296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Categorical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43000" y="30998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country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India, Germany, Canada, USA (3,750 each)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1304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1304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Integer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43000" y="37398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employee_count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39776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Workforce size (100–5,099)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434340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45312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5312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Float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43000" y="43799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annual_revenue_million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" y="46177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Annual revenue in USD millions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114300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125272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25272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Float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623560" y="11795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profit_margin_percent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23560" y="14173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Net profit margin (5%–45%)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178308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189280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189280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Integer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23560" y="1819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founded_year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23560" y="20574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Year company was established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0" y="242316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253288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53288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Integer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623560" y="24597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customer_count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23560" y="26974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customers (500–100,495)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06324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317296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17296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Float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23560" y="30998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market_rating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23560" y="3337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Market reputation score (0–5)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54880" y="370332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46320" y="381304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EC4899">
              <a:alpha val="8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81304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623560" y="37398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created_date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23560" y="39776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Record creation date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54880" y="434340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846320" y="4453128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445312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Categorical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623560" y="43799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region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623560" y="46177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Asia, Europe, North America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QUALITY ASSESSMENT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2435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591056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 Missing Values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9000" y="129844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Complete dataset — all 15,000 rows × 12 columns are fully populated. No imputation required.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2037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Duplicate 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551176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5511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 Duplicates Found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225856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Every record is unique. No duplicate company entries detected across the full dataset.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1638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Data Type Verification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511296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5112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All Types Correct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321868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created_date converted to datetime. Numerics confirmed as int/float. Categoricals as string.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1239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Outlier Pre-screening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80" y="4471416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4714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Zero Outliers (IQR)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417880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 values beyond 1.5×IQR fence for any numerical column. Clean, production-ready data.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DESCRIPTIVE STATISTICS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"/>
                <a:gridCol w="868680"/>
                <a:gridCol w="868680"/>
                <a:gridCol w="822960"/>
                <a:gridCol w="822960"/>
                <a:gridCol w="73152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Skewness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Kurtosis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employee_count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2,607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2,587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1,431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+0.002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-1.188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5,099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annual_revenue_million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$549.7M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$543.9M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$288.2M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+0.027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-1.187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$50.2M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$1,050M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profit_margin_percent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25.01%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24.91%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11.53%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+0.003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-1.203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45.0%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founded_year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2004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2004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8.6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+0.021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-1.190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1987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customer_count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50,449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50,727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28,745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-0.005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-1.195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100,495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market_rating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2.51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2.50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1.45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-0.020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-1.206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80560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4805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</a:rPr>
              <a:t>KEY INSIGHT: All 6 features show near-zero skewness (&lt; |0.03|) and kurtosis ≈ -1.19 — confirming perfectly uniform distributions with no significant outlier risk.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— DISTRIBUTION &amp; SHAPE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216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Annual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Range: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63040" y="16276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$50M–$1,050M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Skewness: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+0.027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212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Kurtosis: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-1.187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505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Shape: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25054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Uniform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17043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7043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7C3AED">
              <a:alpha val="9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216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Employee Count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627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Range: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3400" y="16276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100–5,099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920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Skewness: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43400" y="19202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+0.002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2212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Kurtosis: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43400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-1.188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2505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Shape: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43400" y="25054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Uniform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117043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17043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0E7490">
              <a:alpha val="9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1216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Profit Margin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0488" y="1627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Range: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16276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5%–45%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0488" y="1920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Skewness: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23760" y="19202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+0.003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0488" y="2212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Kurtosis: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-1.203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0488" y="2505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Shape: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23760" y="25054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Uniform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09067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09067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EC4899">
              <a:alpha val="9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136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 Rating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9768" y="3547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Range: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463040" y="35478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0.0–5.0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9768" y="3840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Skewness: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463040" y="38404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-0.020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9768" y="41330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Kurtosis: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63040" y="41330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-1.206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" y="44256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Shape: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463040" y="44256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Uniform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0" y="309067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0" y="309067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3136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Count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310128" y="3547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Range: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343400" y="35478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500–100,495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310128" y="3840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Skewness: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343400" y="38404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-0.005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10128" y="41330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Kurtosis: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343400" y="41330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-1.195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10128" y="44256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Shape: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343400" y="44256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Uniform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80760" y="3090672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080760" y="309067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53912" y="3136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Founded Year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190488" y="3547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Range: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223760" y="35478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1987–2023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90488" y="3840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Skewness: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223760" y="38404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+0.021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90488" y="41330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Kurtosis: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223760" y="41330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-1.190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190488" y="44256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Shape: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23760" y="44256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Uniform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 — NUMERICAL vs NUMERICAL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43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Employee Count vs Revenue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 = -0.002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5910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Near Zero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Headcount does not drive revenue — lean firms match large ones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243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Customer Count vs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5727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 = -0.012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06440" y="15910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Near Zero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190195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Customer volume alone does not guarantee higher revenue generation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496312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5694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Profit Margin vs Revenue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9864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E7490">
              <a:alpha val="9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986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 = -0.003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29169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Near Zero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2278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Revenue giants are NOT automatically the most profitable companies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496312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5694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Market Rating vs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89864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EC4899">
              <a:alpha val="9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986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 = +0.015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29169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Very Weak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32278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Brand strength has marginal but positive revenue influence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822192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8953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Founded Year vs Revenue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2245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24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 = +0.021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42428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Very Weak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55371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Company age provides minimal revenue advantage over newer firms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822192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38953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Market Rating vs Profit Margin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42245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4224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 = -0.006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06440" y="42428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Near Zero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455371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Brand perception and operational profitability are independent metrics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 ANALYSIS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3291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Employees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Profit 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Founded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Rating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Employees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1.000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-0.012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1.000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0.015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Profit 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1.000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Founded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1.000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-0.012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1.000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Rating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0.015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0.007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-0.005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1.000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52628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5262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</a:rPr>
              <a:t>All correlation coefficients fall within ±0.025 — confirming complete independence between all numerical features. No multicollinearity risk for predictive modeling.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— NUMERICAL vs CATEGORICAL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Industry Performance Comparison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1691640"/>
                <a:gridCol w="1691640"/>
                <a:gridCol w="13716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Industry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Profit Margin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Mkt Rating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Retail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$556.6M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2.55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50,574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Technology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$550.2M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50,346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Finance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$552.8M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2.51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50,122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Healthcare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$543.5M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2.52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49,937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$545.6M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50,316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5478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Regional Performance Summary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38862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3950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Asia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42519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Revenue: $551.9M  |  Profit: 25.1%  |  Rating: 2.51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38862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0" y="3950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North America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0" y="42519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Revenue: $550.5M  |  Profit: 25.1%  |  Rating: 2.51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38862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3950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Europe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35040" y="42519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Revenue: $545.8M  |  Profit: 24.9%  |  Rating: 2.52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— IQR &amp; Z-SCORE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IQR Method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Formula: Q3 + 1.5×IQR / Q1 - 1.5×IQR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084832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16A34A">
              <a:alpha val="9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8483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 Outliers Detected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704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Z-Score Method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Formula: |Z| &gt; 3.0 (3σ threshold)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084832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16A34A">
              <a:alpha val="9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08483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 Outliers Detected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IQR Fence Analysis by Feature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82112"/>
          <a:ext cx="8412480" cy="1810512"/>
        </p:xfrm>
        <a:graphic>
          <a:graphicData uri="http://schemas.openxmlformats.org/drawingml/2006/table">
            <a:tbl>
              <a:tblPr/>
              <a:tblGrid>
                <a:gridCol w="2377440"/>
                <a:gridCol w="1051560"/>
                <a:gridCol w="1051560"/>
                <a:gridCol w="1463040"/>
                <a:gridCol w="1463040"/>
                <a:gridCol w="914400"/>
              </a:tblGrid>
              <a:tr h="25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Lower Fence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Upper Fence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Outliers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25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employee_count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1,379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3,839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-1,560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6,778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5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annual_revenue_million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$299.9M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$797.6M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-$449.7M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$1,547.1M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profit_margin_percent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15.05%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35.10%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-37.5%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87.7%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5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founded_year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1997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1975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2034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customer_count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25,676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75,271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-49,317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150,264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5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market_rating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1.20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3.80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-2.70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7.70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ANALYSIS — 3-DIMENSIONAL PATTERNS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8503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1645920" cy="1207008"/>
          </a:xfrm>
          <a:prstGeom prst="roundRect">
            <a:avLst>
              <a:gd name="adj" fmla="val 606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1645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Industry 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× Revenue × Employee Count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261872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Retail Asia: $556.0M avg revenue — highest industry-region combo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57400" y="1508760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Technology Asia: $556.9M — driven by cloud &amp; SaaS growth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1755648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Manufacturing Europe: $526.9M — lowest combo (cost pressures)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200253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Employee count does NOT correlate with revenue in any sector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496312"/>
            <a:ext cx="8503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96312"/>
            <a:ext cx="1645920" cy="1207008"/>
          </a:xfrm>
          <a:prstGeom prst="roundRect">
            <a:avLst>
              <a:gd name="adj" fmla="val 6061"/>
            </a:avLst>
          </a:prstGeom>
          <a:solidFill>
            <a:srgbClr val="7C3AED">
              <a:alpha val="9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87752"/>
            <a:ext cx="1645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Region 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× Market Rating × Profit Margin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2587752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All 3 regions show near-identical profit distributions (5%–45%)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834640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North America: Marginal profit margin advantage (25.1%)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57400" y="3081528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Market rating and profit margin are statistically independent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332841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Operational excellence — not branding — drives profitability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822192"/>
            <a:ext cx="8503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822192"/>
            <a:ext cx="1645920" cy="1207008"/>
          </a:xfrm>
          <a:prstGeom prst="roundRect">
            <a:avLst>
              <a:gd name="adj" fmla="val 6061"/>
            </a:avLst>
          </a:prstGeom>
          <a:solidFill>
            <a:srgbClr val="0E7490">
              <a:alpha val="9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913632"/>
            <a:ext cx="1645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Country 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× Customer Count × Revenue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57400" y="3913632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Germany Retail: $559.5M highest revenue (premium pricing model)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57400" y="4160520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Canada Healthcare: 51,761 avg customers — highest acquisition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4407408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Germany Manufacturing: $526.9M lowest (efficiency challenges)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465429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• Revenue-per-customer differs significantly by country &amp; sector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SKEWNESS &amp; KURTOSIS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SKEWNESS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81912"/>
          <a:ext cx="41148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685800"/>
                <a:gridCol w="178308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annual_revenue_million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+0.027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Near-perfect symmetry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founded_year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+0.021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Near-perfect symmetry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profit_margin_percent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+0.003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Symmetric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employee_count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+0.002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Symmetric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customer_count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-0.005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Symmetric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market_rating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-0.020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Near-perfect symmetry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14300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11430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KURTOSIS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81912"/>
          <a:ext cx="41148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685800"/>
                <a:gridCol w="178308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market_rating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-1.206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Platykurtic (Uniform)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profit_margin_percent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-1.203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Platykurtic (Uniform)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customer_count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-1.195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Platykurtic (Uniform)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founded_year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-1.190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Platykurtic (Uniform)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annual_revenue_million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-1.187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Platykurtic (Uniform)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employee_count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-1.188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Platykurtic (Uniform)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3730752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3767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Skewness Conclusion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05993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All 6 features have |skewness| &lt; 0.03 — practically zero asymmetry. Distributions are symmetric around the mean. No log-transformation or normalization required for modeling.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754880" y="3730752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92040" y="3767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Kurtosis Conclusion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92040" y="405993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All features show kurtosis ≈ -1.19 (platykurtic). This is the hallmark of UNIFORM distributions — flat-topped with no extreme peaks or fat tails. Risk of rare extreme events is minimal.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STATISTICAL FINDINGS &amp; BUSINESS INSIGHTS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801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Symmetric Distributions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6733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All 6 numerical features follow near-perfect uniform distributions. Skewness &lt; |0.03| and kurtosis ≈ -1.19 for every feature — no transformation needed for analysis.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2801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04688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Zero Correlations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6733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Maximum Pearson r = 0.021 between any feature pair. Revenue, employees, customers, profit, and rating are all statistically independent variables.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496312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60604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258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No Outliers Detected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29992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Zero outliers found using both IQR and Z-score (|z|&gt;3) methods across all 6 numerical features. The dataset is clean, complete, and ready for modeling.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496312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60604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04688" y="258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Industry Parity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29992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All 5 industries (Retail, Technology, Finance, Healthcare, Manufacturing) have statistically identical distributions — stratified dataset with zero sampling bias.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393192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" y="3913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Retail Sector Leadership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" y="43251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Retail leads marginally on revenue ($556.6M), profit margin (25.3%) and market rating (2.55/5.0) — suggesting consumer-facing models have a slight operational edge.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822192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93192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3913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Asia as Growth Engine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43251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Asia region shows highest Technology ($556.9M) and Retail ($556.0M) revenue combinations. Asian markets represent the top-performing geographic segment in this dataset.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BUSINESS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344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344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63040" y="12161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Manufacturing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5453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Industry 4.0 Transformation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819656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Implement IoT, AI-quality control, and supply chain automation to close the revenue and margin gap vs Retail.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2344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344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97880" y="12161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Healthcare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5453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Digital Health Expansion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1819656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Launch telemedicine platforms and B2B corporate wellness partnerships to boost the lowest customer count of all sectors.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478024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2569464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569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63040" y="25511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</a:rPr>
              <a:t>All Industries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" y="2880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Market Rating Uplift (CX)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315468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Current avg 2.51/5.0 represents 50% improvement headroom. Invest in NPS programs, loyalty rewards, and service guarantees.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478024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2569464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569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97880" y="25511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Technology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2880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Asia Market Deepening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4608" y="315468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Asia Tech leads at $556.9M avg. Accelerate India and East Asia expansion via cloud SaaS and platform business models.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813048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" y="3904488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9044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63040" y="38862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Retail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9768" y="4215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ARPU Optimization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" y="4489704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Leads on revenue but similar customer count to peers. Implement personalization engines and premium product tiers to grow revenue-per-customer.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813048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64608" y="3904488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9044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97880" y="38862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Finance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215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FinTech Automation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64608" y="4489704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Strong revenue ($552.8M) with margin parity. Automate operations, deploy AI risk models, and launch open banking APIs for new revenue streams.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312E81">
              <a:alpha val="65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4B — EDA Complete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Complete | No Missing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$549.7M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19933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21945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Symmetric Distribution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19933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Profit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21945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Stable Across Sectors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75120" y="150876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EC4899">
              <a:alpha val="85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2.51/5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19933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Market Rating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21945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50% Improvement Room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1. Uniform distributions confirmed across all 6 numerical features — zero significant skewness or fat-tail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821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2. All Pearson correlations &lt; |0.025| — features are fully independent — no multicollinearity for ML modeling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2102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3. Zero outliers detected by IQR and Z-Score methods — dataset is clean, complete, production-ready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599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4. Retail leads in Revenue ($556.6M) + Profit (25.3%); Manufacturing &amp; Healthcare have highest growth potential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5. Asia region is the top-performing geography for Technology and Retail revenue combinations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NextHikes IT Solutions  |  Project 4B  |  EDA: 15,000 Records × 12 Variables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METHODOLOGY &amp; PYTHON LIBRARIES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26974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7043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1E3A8A">
              <a:alpha val="9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2529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Data Loading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007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pd.read_csv()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048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Shape verification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Sample inspection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70432"/>
            <a:ext cx="26974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7043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1E3A8A">
              <a:alpha val="9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2529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Data Cleaning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7007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Missing value check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048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Duplicate removal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3957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Type conversion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70432"/>
            <a:ext cx="26974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7043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1E3A8A">
              <a:alpha val="9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2529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Univariate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7007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Descriptive stats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048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Histograms + KDE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3957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Boxplots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90672"/>
            <a:ext cx="26974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9067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1E3A8A">
              <a:alpha val="9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455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Bivariate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6210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Scatter plots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9684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Pearson correlation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3159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Grouped bar charts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090672"/>
            <a:ext cx="26974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9067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1E3A8A">
              <a:alpha val="9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1455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 Outlier Detection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36210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IQR method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9684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Z-Score method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43159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Boxplot visualization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090672"/>
            <a:ext cx="26974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9067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1E3A8A">
              <a:alpha val="9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1455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 Multivariate &amp; Report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36210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3D analysis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9684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Heatmaps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43159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Business recommendations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80060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2563EB">
              <a:alpha val="8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006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NumPy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48256" y="480060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48256" y="48006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Pandas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30752" y="480060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E7490">
              <a:alpha val="88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30752" y="48006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13248" y="480060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EC4899">
              <a:alpha val="8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13248" y="48006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Seaborn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95744" y="480060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95744" y="48006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SciPy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15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What This EDA Achieved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93776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Comprehensive statistical profiling of 15,000 industry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93776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1168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Confirmed uniform distributions — ideal foundation for ML modeling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93776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5146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Identified Retail sector leadership and Manufacturing gap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93776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01752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Revealed Asia as the highest-performing revenue region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493776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52044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Established zero-outlier, zero-missing-data quality baseline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4023360"/>
            <a:ext cx="493776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402336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Provided 21+ executive-quality visualizations across 3 analysis levels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0" y="1115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Recommended Next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1508760"/>
            <a:ext cx="3429000" cy="621792"/>
          </a:xfrm>
          <a:prstGeom prst="roundRect">
            <a:avLst>
              <a:gd name="adj" fmla="val 1176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59552" y="158191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89320" y="158191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Build predictive revenue models using ML algorithms (XGBoost, Random Forest)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2221992"/>
            <a:ext cx="3429000" cy="621792"/>
          </a:xfrm>
          <a:prstGeom prst="roundRect">
            <a:avLst>
              <a:gd name="adj" fmla="val 1176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59552" y="229514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89320" y="2295144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Segment companies into performance clusters via K-Means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0" y="2935224"/>
            <a:ext cx="3429000" cy="621792"/>
          </a:xfrm>
          <a:prstGeom prst="roundRect">
            <a:avLst>
              <a:gd name="adj" fmla="val 1176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59552" y="30083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89320" y="3008376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Time-series analysis of revenue growth using created_date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0" y="3648456"/>
            <a:ext cx="3429000" cy="621792"/>
          </a:xfrm>
          <a:prstGeom prst="roundRect">
            <a:avLst>
              <a:gd name="adj" fmla="val 1176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59552" y="372160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89320" y="372160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A/B test CX improvement initiatives to raise market rating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4361688"/>
            <a:ext cx="3429000" cy="621792"/>
          </a:xfrm>
          <a:prstGeom prst="roundRect">
            <a:avLst>
              <a:gd name="adj" fmla="val 1176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59552" y="443484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89320" y="44348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Expand dataset with growth rates and market share data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12E81">
              <a:alpha val="6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200400"/>
            <a:ext cx="2743200" cy="2743200"/>
          </a:xfrm>
          <a:prstGeom prst="ellipse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Exploratory Data Analysis — NHIS Project 4B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2331720"/>
            <a:ext cx="3657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87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Dataset: 15,000 Records × 12 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7121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Analysis: Univariate · Bivariate · Multivariate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5526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Visualizations: 21+ Publication-Quality Charts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639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Tools: Python | NumPy | Pandas | Seaborn | SciPy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16052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06B6D4">
              <a:alpha val="85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NextHikes IT Solutions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Submitted: 10th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EDA - NHIS Project 4B</dc:title>
  <dc:subject>PptxGenJS Presentation</dc:subject>
  <dc:creator>NextHikes IT Solutions</dc:creator>
  <cp:lastModifiedBy>NextHikes IT Solutions</cp:lastModifiedBy>
  <cp:revision>1</cp:revision>
  <dcterms:created xsi:type="dcterms:W3CDTF">2026-06-10T08:10:53Z</dcterms:created>
  <dcterms:modified xsi:type="dcterms:W3CDTF">2026-06-10T08:10:53Z</dcterms:modified>
</cp:coreProperties>
</file>